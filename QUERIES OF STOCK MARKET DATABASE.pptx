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EA085-D68C-4D44-BC34-AFFCB1533FB1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EEBFD-B005-437A-BFFA-A26D09B7E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QUERIES OF STOCK MARKET DATABASE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Basic, Intermediate and Advanced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TRADING DAYS PER STOCK</a:t>
            </a:r>
          </a:p>
          <a:p>
            <a:pPr>
              <a:buNone/>
            </a:pPr>
            <a:r>
              <a:rPr lang="en-US" sz="2800" dirty="0" smtClean="0"/>
              <a:t>		</a:t>
            </a:r>
            <a:r>
              <a:rPr lang="en-US" sz="1600" dirty="0" smtClean="0"/>
              <a:t>select ticker, count(*) as </a:t>
            </a:r>
            <a:r>
              <a:rPr lang="en-US" sz="1600" dirty="0" err="1" smtClean="0"/>
              <a:t>trading_days</a:t>
            </a:r>
            <a:r>
              <a:rPr lang="en-US" sz="1600" dirty="0" smtClean="0"/>
              <a:t> 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from </a:t>
            </a:r>
            <a:r>
              <a:rPr lang="en-US" sz="1600" dirty="0" err="1" smtClean="0"/>
              <a:t>stock_data</a:t>
            </a:r>
            <a:r>
              <a:rPr lang="en-US" sz="1600" dirty="0" smtClean="0"/>
              <a:t> 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group by ticker;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</p:txBody>
      </p:sp>
      <p:pic>
        <p:nvPicPr>
          <p:cNvPr id="6" name="Picture 2" descr="C:\Users\HP\Pictures\Screenshots\Screenshot (296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643314"/>
            <a:ext cx="6011968" cy="22145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571480"/>
            <a:ext cx="8329642" cy="5554683"/>
          </a:xfrm>
        </p:spPr>
        <p:txBody>
          <a:bodyPr/>
          <a:lstStyle/>
          <a:p>
            <a:r>
              <a:rPr lang="en-US" dirty="0" smtClean="0"/>
              <a:t>AVERAGE CLOSING PRICE</a:t>
            </a:r>
          </a:p>
          <a:p>
            <a:pPr lvl="3">
              <a:buNone/>
            </a:pPr>
            <a:r>
              <a:rPr lang="en-US" sz="1600" dirty="0" smtClean="0"/>
              <a:t>Select ticker, round(</a:t>
            </a:r>
            <a:r>
              <a:rPr lang="en-US" sz="1600" dirty="0" err="1" smtClean="0"/>
              <a:t>avg</a:t>
            </a:r>
            <a:r>
              <a:rPr lang="en-US" sz="1600" dirty="0" smtClean="0"/>
              <a:t>(close),2) as </a:t>
            </a:r>
            <a:r>
              <a:rPr lang="en-US" sz="1600" dirty="0" err="1" smtClean="0"/>
              <a:t>avg_closing_price</a:t>
            </a:r>
            <a:r>
              <a:rPr lang="en-US" sz="1600" dirty="0" smtClean="0"/>
              <a:t>,</a:t>
            </a:r>
          </a:p>
          <a:p>
            <a:pPr lvl="3">
              <a:buNone/>
            </a:pPr>
            <a:r>
              <a:rPr lang="en-US" sz="1600" dirty="0" smtClean="0"/>
              <a:t>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Group by ticker</a:t>
            </a:r>
          </a:p>
          <a:p>
            <a:pPr lvl="3">
              <a:buNone/>
            </a:pPr>
            <a:r>
              <a:rPr lang="en-US" sz="1600" dirty="0" smtClean="0"/>
              <a:t>Order by </a:t>
            </a:r>
            <a:r>
              <a:rPr lang="en-US" sz="1600" dirty="0" err="1" smtClean="0"/>
              <a:t>avg_closing_price</a:t>
            </a:r>
            <a:r>
              <a:rPr lang="en-US" sz="1600" dirty="0" smtClean="0"/>
              <a:t> </a:t>
            </a:r>
            <a:r>
              <a:rPr lang="en-US" sz="1600" dirty="0" err="1" smtClean="0"/>
              <a:t>desc</a:t>
            </a:r>
            <a:r>
              <a:rPr lang="en-US" sz="1600" dirty="0" smtClean="0"/>
              <a:t>;</a:t>
            </a:r>
          </a:p>
          <a:p>
            <a:pPr lvl="3">
              <a:buNone/>
            </a:pPr>
            <a:endParaRPr lang="en-US" sz="1600" dirty="0" smtClean="0"/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endParaRPr lang="en-US" dirty="0" smtClean="0"/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endParaRPr lang="en-US" dirty="0" smtClean="0"/>
          </a:p>
        </p:txBody>
      </p:sp>
      <p:pic>
        <p:nvPicPr>
          <p:cNvPr id="7" name="Picture 6" descr="Screenshot (29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2714621"/>
            <a:ext cx="7283429" cy="2715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71480"/>
            <a:ext cx="8258204" cy="5554683"/>
          </a:xfrm>
        </p:spPr>
        <p:txBody>
          <a:bodyPr/>
          <a:lstStyle/>
          <a:p>
            <a:r>
              <a:rPr lang="en-US" dirty="0" smtClean="0"/>
              <a:t>HIGHEST CLOSING PRICE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1600" dirty="0" smtClean="0"/>
              <a:t>select ticker, max(close) as </a:t>
            </a:r>
            <a:r>
              <a:rPr lang="en-US" sz="1600" dirty="0" err="1" smtClean="0"/>
              <a:t>highest_closing_price</a:t>
            </a:r>
            <a:endParaRPr lang="en-US" sz="1600" dirty="0" smtClean="0"/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group by ticker;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Screenshot (29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571744"/>
            <a:ext cx="8440329" cy="3153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642918"/>
            <a:ext cx="8258204" cy="5483245"/>
          </a:xfrm>
        </p:spPr>
        <p:txBody>
          <a:bodyPr/>
          <a:lstStyle/>
          <a:p>
            <a:r>
              <a:rPr lang="en-US" dirty="0" smtClean="0"/>
              <a:t>LOWEST CLOSING PRICE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1600" dirty="0" smtClean="0"/>
              <a:t>select ticker, min(close) as </a:t>
            </a:r>
            <a:r>
              <a:rPr lang="en-US" sz="1600" dirty="0" err="1" smtClean="0"/>
              <a:t>lowest_closing_price</a:t>
            </a:r>
            <a:r>
              <a:rPr lang="en-US" sz="1600" dirty="0" smtClean="0"/>
              <a:t> 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group by ticker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order by ticker </a:t>
            </a:r>
            <a:r>
              <a:rPr lang="en-US" sz="1600" dirty="0" err="1" smtClean="0"/>
              <a:t>asc</a:t>
            </a:r>
            <a:r>
              <a:rPr lang="en-US" sz="1600" dirty="0" smtClean="0"/>
              <a:t>;</a:t>
            </a:r>
            <a:endParaRPr lang="en-US" sz="1600" dirty="0"/>
          </a:p>
        </p:txBody>
      </p:sp>
      <p:pic>
        <p:nvPicPr>
          <p:cNvPr id="4" name="Picture 3" descr="Screenshot (29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50" y="2857497"/>
            <a:ext cx="7569023" cy="2857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642918"/>
            <a:ext cx="8258204" cy="5483245"/>
          </a:xfrm>
        </p:spPr>
        <p:txBody>
          <a:bodyPr/>
          <a:lstStyle/>
          <a:p>
            <a:r>
              <a:rPr lang="en-US" dirty="0" smtClean="0"/>
              <a:t>AVERAGE DAILY RETURN</a:t>
            </a:r>
          </a:p>
          <a:p>
            <a:pPr lvl="2">
              <a:buNone/>
            </a:pPr>
            <a:endParaRPr lang="en-US" sz="1600" dirty="0" smtClean="0"/>
          </a:p>
          <a:p>
            <a:pPr lvl="2">
              <a:buNone/>
            </a:pPr>
            <a:r>
              <a:rPr lang="en-US" sz="1600" dirty="0" smtClean="0"/>
              <a:t>select ticker, round(</a:t>
            </a:r>
            <a:r>
              <a:rPr lang="en-US" sz="1600" dirty="0" err="1" smtClean="0"/>
              <a:t>avg</a:t>
            </a:r>
            <a:r>
              <a:rPr lang="en-US" sz="1600" dirty="0" smtClean="0"/>
              <a:t>(</a:t>
            </a:r>
            <a:r>
              <a:rPr lang="en-US" sz="1600" dirty="0" err="1" smtClean="0"/>
              <a:t>daily_return</a:t>
            </a:r>
            <a:r>
              <a:rPr lang="en-US" sz="1600" dirty="0" smtClean="0"/>
              <a:t>),3) as </a:t>
            </a:r>
            <a:r>
              <a:rPr lang="en-US" sz="1600" dirty="0" err="1" smtClean="0"/>
              <a:t>avg_daily_return</a:t>
            </a:r>
            <a:r>
              <a:rPr lang="en-US" sz="1600" dirty="0" smtClean="0"/>
              <a:t> </a:t>
            </a:r>
          </a:p>
          <a:p>
            <a:pPr lvl="2">
              <a:buNone/>
            </a:pPr>
            <a:r>
              <a:rPr lang="en-US" sz="1600" dirty="0" smtClean="0"/>
              <a:t>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 lvl="2">
              <a:buNone/>
            </a:pPr>
            <a:r>
              <a:rPr lang="en-US" sz="1600" dirty="0" smtClean="0"/>
              <a:t>Group by ticker</a:t>
            </a:r>
          </a:p>
          <a:p>
            <a:pPr lvl="2">
              <a:buNone/>
            </a:pPr>
            <a:r>
              <a:rPr lang="en-US" sz="1600" dirty="0" smtClean="0"/>
              <a:t>Order by </a:t>
            </a:r>
            <a:r>
              <a:rPr lang="en-US" sz="1600" dirty="0" err="1" smtClean="0"/>
              <a:t>avg_daily_return</a:t>
            </a:r>
            <a:r>
              <a:rPr lang="en-US" sz="1600" dirty="0" smtClean="0"/>
              <a:t> </a:t>
            </a:r>
            <a:r>
              <a:rPr lang="en-US" sz="1600" dirty="0" err="1" smtClean="0"/>
              <a:t>desc</a:t>
            </a:r>
            <a:r>
              <a:rPr lang="en-US" sz="1600" dirty="0" smtClean="0"/>
              <a:t>;</a:t>
            </a:r>
            <a:endParaRPr lang="en-US" sz="1600" dirty="0"/>
          </a:p>
        </p:txBody>
      </p:sp>
      <p:pic>
        <p:nvPicPr>
          <p:cNvPr id="4" name="Picture 3" descr="Screenshot (30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928934"/>
            <a:ext cx="7468216" cy="2868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58204" cy="5626121"/>
          </a:xfrm>
        </p:spPr>
        <p:txBody>
          <a:bodyPr/>
          <a:lstStyle/>
          <a:p>
            <a:r>
              <a:rPr lang="en-US" dirty="0" smtClean="0"/>
              <a:t>AVERAGE VOLUME</a:t>
            </a:r>
          </a:p>
          <a:p>
            <a:pPr lvl="3">
              <a:buNone/>
            </a:pPr>
            <a:r>
              <a:rPr lang="en-US" sz="1600" dirty="0" smtClean="0"/>
              <a:t>SELECT Ticker,</a:t>
            </a:r>
          </a:p>
          <a:p>
            <a:pPr lvl="3">
              <a:buNone/>
            </a:pPr>
            <a:r>
              <a:rPr lang="en-US" sz="1600" dirty="0" smtClean="0"/>
              <a:t> ROUND(AVG(Volume)) </a:t>
            </a:r>
            <a:r>
              <a:rPr lang="en-US" sz="1600" dirty="0" err="1" smtClean="0"/>
              <a:t>Avg_Volume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GROUP BY Ticker</a:t>
            </a:r>
          </a:p>
          <a:p>
            <a:pPr lvl="3">
              <a:buNone/>
            </a:pPr>
            <a:r>
              <a:rPr lang="en-US" sz="1600" dirty="0" smtClean="0"/>
              <a:t>ORDER BY </a:t>
            </a:r>
            <a:r>
              <a:rPr lang="en-US" sz="1600" dirty="0" err="1" smtClean="0"/>
              <a:t>Avg_Volume</a:t>
            </a:r>
            <a:r>
              <a:rPr lang="en-US" sz="1600" dirty="0" smtClean="0"/>
              <a:t> DESC;</a:t>
            </a:r>
            <a:endParaRPr lang="en-US" sz="1600" dirty="0"/>
          </a:p>
        </p:txBody>
      </p:sp>
      <p:pic>
        <p:nvPicPr>
          <p:cNvPr id="4" name="Picture 3" descr="Screenshot (3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9" y="2786059"/>
            <a:ext cx="7740815" cy="29289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71480"/>
            <a:ext cx="8258204" cy="5554683"/>
          </a:xfrm>
        </p:spPr>
        <p:txBody>
          <a:bodyPr/>
          <a:lstStyle/>
          <a:p>
            <a:r>
              <a:rPr lang="en-US" dirty="0" smtClean="0"/>
              <a:t>MOST VOLATILE STOCK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		</a:t>
            </a:r>
            <a:r>
              <a:rPr lang="en-US" sz="1600" dirty="0" smtClean="0"/>
              <a:t>SELECT  Ticker,</a:t>
            </a:r>
          </a:p>
          <a:p>
            <a:pPr>
              <a:buNone/>
            </a:pPr>
            <a:r>
              <a:rPr lang="en-US" sz="1600" dirty="0" smtClean="0"/>
              <a:t>    		ROUND(AVG(Volatility),3) </a:t>
            </a:r>
            <a:r>
              <a:rPr lang="en-US" sz="1600" dirty="0" err="1" smtClean="0"/>
              <a:t>Avg_Volatility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GROUP BY Ticker</a:t>
            </a:r>
          </a:p>
          <a:p>
            <a:pPr>
              <a:buNone/>
            </a:pPr>
            <a:r>
              <a:rPr lang="en-US" sz="1600" dirty="0" smtClean="0"/>
              <a:t>		ORDER BY </a:t>
            </a:r>
            <a:r>
              <a:rPr lang="en-US" sz="1600" dirty="0" err="1" smtClean="0"/>
              <a:t>Avg_Volatility</a:t>
            </a:r>
            <a:r>
              <a:rPr lang="en-US" sz="1600" dirty="0" smtClean="0"/>
              <a:t> DESC;</a:t>
            </a:r>
            <a:endParaRPr lang="en-US" sz="1600" dirty="0"/>
          </a:p>
        </p:txBody>
      </p:sp>
      <p:pic>
        <p:nvPicPr>
          <p:cNvPr id="4" name="Picture 3" descr="Screenshot (3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3143248"/>
            <a:ext cx="7506262" cy="3024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58204" cy="5626121"/>
          </a:xfrm>
        </p:spPr>
        <p:txBody>
          <a:bodyPr/>
          <a:lstStyle/>
          <a:p>
            <a:r>
              <a:rPr lang="en-US" dirty="0" smtClean="0"/>
              <a:t>RANK STOCKS BY CLOSING PRICE</a:t>
            </a:r>
          </a:p>
          <a:p>
            <a:pPr lvl="3">
              <a:buNone/>
            </a:pPr>
            <a:r>
              <a:rPr lang="en-US" dirty="0" smtClean="0"/>
              <a:t>Select date, ticker, close,</a:t>
            </a:r>
          </a:p>
          <a:p>
            <a:pPr lvl="3">
              <a:buNone/>
            </a:pPr>
            <a:r>
              <a:rPr lang="en-US" dirty="0" smtClean="0"/>
              <a:t>Rank() over (partition by date order by close </a:t>
            </a:r>
            <a:r>
              <a:rPr lang="en-US" dirty="0" err="1" smtClean="0"/>
              <a:t>desc</a:t>
            </a:r>
            <a:r>
              <a:rPr lang="en-US" dirty="0" smtClean="0"/>
              <a:t>) as </a:t>
            </a:r>
            <a:r>
              <a:rPr lang="en-US" dirty="0" err="1" smtClean="0"/>
              <a:t>price_rank</a:t>
            </a:r>
            <a:endParaRPr lang="en-US" dirty="0" smtClean="0"/>
          </a:p>
          <a:p>
            <a:pPr lvl="3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stock_data</a:t>
            </a:r>
            <a:endParaRPr lang="en-US" dirty="0" smtClean="0"/>
          </a:p>
          <a:p>
            <a:pPr lvl="3">
              <a:buNone/>
            </a:pPr>
            <a:endParaRPr lang="en-US" dirty="0"/>
          </a:p>
        </p:txBody>
      </p:sp>
      <p:pic>
        <p:nvPicPr>
          <p:cNvPr id="4" name="Picture 3" descr="Screenshot (30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2571744"/>
            <a:ext cx="8009985" cy="27860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14356"/>
            <a:ext cx="8258204" cy="5411807"/>
          </a:xfrm>
        </p:spPr>
        <p:txBody>
          <a:bodyPr/>
          <a:lstStyle/>
          <a:p>
            <a:r>
              <a:rPr lang="en-US" dirty="0" smtClean="0"/>
              <a:t>PREVIOUS CLOSING DAY PRICE</a:t>
            </a:r>
          </a:p>
          <a:p>
            <a:pPr lvl="3">
              <a:buNone/>
            </a:pPr>
            <a:r>
              <a:rPr lang="en-US" dirty="0" smtClean="0"/>
              <a:t>	Select date, ticker, close,</a:t>
            </a:r>
          </a:p>
          <a:p>
            <a:pPr lvl="3">
              <a:buNone/>
            </a:pPr>
            <a:r>
              <a:rPr lang="en-US" dirty="0" smtClean="0"/>
              <a:t>	Lag(close) over (partition by ticker order by date </a:t>
            </a:r>
            <a:r>
              <a:rPr lang="en-US" dirty="0" err="1" smtClean="0"/>
              <a:t>desc</a:t>
            </a:r>
            <a:r>
              <a:rPr lang="en-US" dirty="0" smtClean="0"/>
              <a:t>) </a:t>
            </a:r>
            <a:r>
              <a:rPr lang="en-US" dirty="0" err="1" smtClean="0"/>
              <a:t>prev_closing_price</a:t>
            </a:r>
            <a:r>
              <a:rPr lang="en-US" dirty="0" smtClean="0"/>
              <a:t> from </a:t>
            </a:r>
            <a:r>
              <a:rPr lang="en-US" dirty="0" err="1" smtClean="0"/>
              <a:t>stock_data</a:t>
            </a:r>
            <a:r>
              <a:rPr lang="en-US" dirty="0" smtClean="0"/>
              <a:t>;</a:t>
            </a:r>
          </a:p>
        </p:txBody>
      </p:sp>
      <p:pic>
        <p:nvPicPr>
          <p:cNvPr id="4" name="Picture 3" descr="Screenshot (30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786058"/>
            <a:ext cx="7565304" cy="26432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428604"/>
            <a:ext cx="8258204" cy="5697559"/>
          </a:xfrm>
        </p:spPr>
        <p:txBody>
          <a:bodyPr>
            <a:normAutofit/>
          </a:bodyPr>
          <a:lstStyle/>
          <a:p>
            <a:r>
              <a:rPr lang="en-US" dirty="0" smtClean="0"/>
              <a:t>NEXT DAY CLOSING PRICE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1600" dirty="0" smtClean="0"/>
              <a:t>select date, ticker,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	lead(close) over(partition by ticker order by date) as </a:t>
            </a:r>
            <a:r>
              <a:rPr lang="en-US" sz="1600" dirty="0" err="1" smtClean="0"/>
              <a:t>next_day_closing</a:t>
            </a:r>
            <a:r>
              <a:rPr lang="en-US" sz="1600" dirty="0" smtClean="0"/>
              <a:t> </a:t>
            </a:r>
          </a:p>
          <a:p>
            <a:pPr>
              <a:buNone/>
            </a:pPr>
            <a:r>
              <a:rPr lang="en-US" sz="1600" dirty="0" smtClean="0"/>
              <a:t>			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	Order by </a:t>
            </a:r>
            <a:r>
              <a:rPr lang="en-US" sz="1600" dirty="0" err="1" smtClean="0"/>
              <a:t>next_day_closing</a:t>
            </a:r>
            <a:r>
              <a:rPr lang="en-US" sz="1600" dirty="0" smtClean="0"/>
              <a:t> </a:t>
            </a:r>
            <a:r>
              <a:rPr lang="en-US" sz="1600" dirty="0" err="1" smtClean="0"/>
              <a:t>desc</a:t>
            </a:r>
            <a:r>
              <a:rPr lang="en-US" sz="1600" dirty="0" smtClean="0"/>
              <a:t>;</a:t>
            </a:r>
            <a:endParaRPr lang="en-US" sz="1600" dirty="0"/>
          </a:p>
        </p:txBody>
      </p:sp>
      <p:pic>
        <p:nvPicPr>
          <p:cNvPr id="4" name="Picture 3" descr="Screenshot (3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2857496"/>
            <a:ext cx="8308921" cy="285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14356"/>
            <a:ext cx="8258204" cy="5411807"/>
          </a:xfrm>
        </p:spPr>
        <p:txBody>
          <a:bodyPr/>
          <a:lstStyle/>
          <a:p>
            <a:r>
              <a:rPr lang="en-US" dirty="0" smtClean="0"/>
              <a:t>RUNNING AVERAGE</a:t>
            </a:r>
          </a:p>
          <a:p>
            <a:pPr lvl="4">
              <a:buNone/>
            </a:pPr>
            <a:r>
              <a:rPr lang="en-US" dirty="0" smtClean="0"/>
              <a:t>	Select ticker, date, close, round (</a:t>
            </a:r>
            <a:r>
              <a:rPr lang="en-US" dirty="0" err="1" smtClean="0"/>
              <a:t>avg</a:t>
            </a:r>
            <a:r>
              <a:rPr lang="en-US" dirty="0" smtClean="0"/>
              <a:t>(close) over (partition by ticker order by date rows between unbounded preceding and current row) ,2) as </a:t>
            </a:r>
            <a:r>
              <a:rPr lang="en-US" dirty="0" err="1" smtClean="0"/>
              <a:t>running_avg</a:t>
            </a:r>
            <a:r>
              <a:rPr lang="en-US" dirty="0" smtClean="0"/>
              <a:t> from </a:t>
            </a:r>
            <a:r>
              <a:rPr lang="en-US" dirty="0" err="1" smtClean="0"/>
              <a:t>stock_data</a:t>
            </a:r>
            <a:r>
              <a:rPr lang="en-US" dirty="0" smtClean="0"/>
              <a:t> ;</a:t>
            </a:r>
            <a:endParaRPr lang="en-US" dirty="0"/>
          </a:p>
        </p:txBody>
      </p:sp>
      <p:pic>
        <p:nvPicPr>
          <p:cNvPr id="4" name="Picture 3" descr="Screenshot (30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2786058"/>
            <a:ext cx="8328428" cy="29289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58204" cy="5626121"/>
          </a:xfrm>
        </p:spPr>
        <p:txBody>
          <a:bodyPr/>
          <a:lstStyle/>
          <a:p>
            <a:r>
              <a:rPr lang="en-US" dirty="0" smtClean="0"/>
              <a:t>RUNNING TOTAL VOLUME</a:t>
            </a:r>
          </a:p>
          <a:p>
            <a:pPr lvl="4">
              <a:buNone/>
            </a:pPr>
            <a:r>
              <a:rPr lang="en-US" dirty="0" smtClean="0"/>
              <a:t>Select ticker, date, volume, </a:t>
            </a:r>
          </a:p>
          <a:p>
            <a:pPr lvl="4">
              <a:buNone/>
            </a:pPr>
            <a:r>
              <a:rPr lang="en-US" dirty="0" smtClean="0"/>
              <a:t>Sum(volume) over (partition by ticker order by date)</a:t>
            </a:r>
          </a:p>
          <a:p>
            <a:pPr lvl="4">
              <a:buNone/>
            </a:pPr>
            <a:r>
              <a:rPr lang="en-US" dirty="0" smtClean="0"/>
              <a:t>As </a:t>
            </a:r>
            <a:r>
              <a:rPr lang="en-US" dirty="0" err="1" smtClean="0"/>
              <a:t>total_volume</a:t>
            </a:r>
            <a:endParaRPr lang="en-US" dirty="0" smtClean="0"/>
          </a:p>
          <a:p>
            <a:pPr lvl="4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stock_data</a:t>
            </a:r>
            <a:r>
              <a:rPr lang="en-US" dirty="0" smtClean="0"/>
              <a:t>;</a:t>
            </a:r>
          </a:p>
          <a:p>
            <a:pPr lvl="4">
              <a:buNone/>
            </a:pPr>
            <a:endParaRPr lang="en-US" dirty="0"/>
          </a:p>
        </p:txBody>
      </p:sp>
      <p:pic>
        <p:nvPicPr>
          <p:cNvPr id="4" name="Picture 3" descr="Screenshot (30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2786058"/>
            <a:ext cx="8312782" cy="31432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500042"/>
            <a:ext cx="8186766" cy="5626121"/>
          </a:xfrm>
        </p:spPr>
        <p:txBody>
          <a:bodyPr/>
          <a:lstStyle/>
          <a:p>
            <a:r>
              <a:rPr lang="en-US" dirty="0" smtClean="0"/>
              <a:t>HIGHEST CLOSING PRICE PER STOCK</a:t>
            </a:r>
          </a:p>
          <a:p>
            <a:pPr lvl="5">
              <a:buNone/>
            </a:pPr>
            <a:r>
              <a:rPr lang="en-US" dirty="0" smtClean="0"/>
              <a:t>With </a:t>
            </a:r>
            <a:r>
              <a:rPr lang="en-US" dirty="0" err="1" smtClean="0"/>
              <a:t>high_close</a:t>
            </a:r>
            <a:r>
              <a:rPr lang="en-US" dirty="0" smtClean="0"/>
              <a:t> as(</a:t>
            </a:r>
          </a:p>
          <a:p>
            <a:pPr lvl="5">
              <a:buNone/>
            </a:pPr>
            <a:r>
              <a:rPr lang="en-US" dirty="0" smtClean="0"/>
              <a:t>Select ticker, max(close) as </a:t>
            </a:r>
            <a:r>
              <a:rPr lang="en-US" dirty="0" err="1" smtClean="0"/>
              <a:t>highest_close</a:t>
            </a:r>
            <a:endParaRPr lang="en-US" dirty="0" smtClean="0"/>
          </a:p>
          <a:p>
            <a:pPr lvl="5"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stock_data</a:t>
            </a:r>
            <a:endParaRPr lang="en-US" dirty="0" smtClean="0"/>
          </a:p>
          <a:p>
            <a:pPr lvl="5">
              <a:buNone/>
            </a:pPr>
            <a:r>
              <a:rPr lang="en-US" dirty="0" smtClean="0"/>
              <a:t>Group by ticker)</a:t>
            </a:r>
          </a:p>
          <a:p>
            <a:pPr lvl="5">
              <a:buNone/>
            </a:pPr>
            <a:endParaRPr lang="en-US" dirty="0" smtClean="0"/>
          </a:p>
          <a:p>
            <a:pPr lvl="5"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high_close</a:t>
            </a:r>
            <a:r>
              <a:rPr lang="en-US" dirty="0" smtClean="0"/>
              <a:t>;</a:t>
            </a:r>
          </a:p>
          <a:p>
            <a:pPr lvl="5">
              <a:buNone/>
            </a:pPr>
            <a:endParaRPr lang="en-US" dirty="0" smtClean="0"/>
          </a:p>
        </p:txBody>
      </p:sp>
      <p:pic>
        <p:nvPicPr>
          <p:cNvPr id="1026" name="Picture 2" descr="C:\Users\HP\Pictures\Screenshots\Screenshot (310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3643314"/>
            <a:ext cx="6146800" cy="2247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500042"/>
            <a:ext cx="8186766" cy="5626121"/>
          </a:xfrm>
        </p:spPr>
        <p:txBody>
          <a:bodyPr/>
          <a:lstStyle/>
          <a:p>
            <a:r>
              <a:rPr lang="en-US" dirty="0" smtClean="0"/>
              <a:t>RANK STOCKS BY AVERAGE RETURN</a:t>
            </a:r>
          </a:p>
          <a:p>
            <a:pPr lvl="3">
              <a:buNone/>
            </a:pPr>
            <a:r>
              <a:rPr lang="en-US" sz="1600" dirty="0" smtClean="0"/>
              <a:t>With </a:t>
            </a:r>
            <a:r>
              <a:rPr lang="en-US" sz="1600" dirty="0" err="1" smtClean="0"/>
              <a:t>avg_return</a:t>
            </a:r>
            <a:r>
              <a:rPr lang="en-US" sz="1600" dirty="0" smtClean="0"/>
              <a:t> as(</a:t>
            </a:r>
          </a:p>
          <a:p>
            <a:pPr lvl="3">
              <a:buNone/>
            </a:pPr>
            <a:r>
              <a:rPr lang="en-US" sz="1600" dirty="0" smtClean="0"/>
              <a:t>Select ticker, </a:t>
            </a:r>
            <a:r>
              <a:rPr lang="en-US" sz="1600" dirty="0" err="1" smtClean="0"/>
              <a:t>avg</a:t>
            </a:r>
            <a:r>
              <a:rPr lang="en-US" sz="1600" dirty="0" smtClean="0"/>
              <a:t>(return) as </a:t>
            </a:r>
            <a:r>
              <a:rPr lang="en-US" sz="1600" dirty="0" err="1" smtClean="0"/>
              <a:t>avg_return</a:t>
            </a:r>
            <a:r>
              <a:rPr lang="en-US" sz="1600" dirty="0" smtClean="0"/>
              <a:t> </a:t>
            </a:r>
          </a:p>
          <a:p>
            <a:pPr lvl="3">
              <a:buNone/>
            </a:pPr>
            <a:r>
              <a:rPr lang="en-US" sz="1600" dirty="0" smtClean="0"/>
              <a:t>From </a:t>
            </a:r>
            <a:r>
              <a:rPr lang="en-US" sz="1600" dirty="0" err="1" smtClean="0"/>
              <a:t>stock_data</a:t>
            </a:r>
            <a:r>
              <a:rPr lang="en-US" sz="1600" dirty="0" smtClean="0"/>
              <a:t> Group by ticker)</a:t>
            </a:r>
          </a:p>
          <a:p>
            <a:pPr lvl="3">
              <a:buNone/>
            </a:pPr>
            <a:r>
              <a:rPr lang="en-US" sz="1600" dirty="0" smtClean="0"/>
              <a:t>Select * ,</a:t>
            </a:r>
          </a:p>
          <a:p>
            <a:pPr lvl="3">
              <a:buNone/>
            </a:pPr>
            <a:r>
              <a:rPr lang="en-US" sz="1600" dirty="0" smtClean="0"/>
              <a:t>Rank() over(order by </a:t>
            </a:r>
            <a:r>
              <a:rPr lang="en-US" sz="1600" dirty="0" err="1" smtClean="0"/>
              <a:t>avg_return</a:t>
            </a:r>
            <a:r>
              <a:rPr lang="en-US" sz="1600" dirty="0" smtClean="0"/>
              <a:t> </a:t>
            </a:r>
            <a:r>
              <a:rPr lang="en-US" sz="1600" dirty="0" err="1" smtClean="0"/>
              <a:t>desc</a:t>
            </a:r>
            <a:r>
              <a:rPr lang="en-US" sz="1600" dirty="0" smtClean="0"/>
              <a:t>) as ranking</a:t>
            </a:r>
          </a:p>
          <a:p>
            <a:pPr lvl="3">
              <a:buNone/>
            </a:pPr>
            <a:r>
              <a:rPr lang="en-US" sz="1600" dirty="0" smtClean="0"/>
              <a:t>From </a:t>
            </a:r>
            <a:r>
              <a:rPr lang="en-US" sz="1600" dirty="0" err="1" smtClean="0"/>
              <a:t>avg_return</a:t>
            </a:r>
            <a:r>
              <a:rPr lang="en-US" sz="1600" dirty="0" smtClean="0"/>
              <a:t>;</a:t>
            </a:r>
          </a:p>
        </p:txBody>
      </p:sp>
      <p:pic>
        <p:nvPicPr>
          <p:cNvPr id="4" name="Picture 3" descr="Screenshot (3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3214686"/>
            <a:ext cx="7506942" cy="27860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642918"/>
            <a:ext cx="8258204" cy="5483245"/>
          </a:xfrm>
        </p:spPr>
        <p:txBody>
          <a:bodyPr/>
          <a:lstStyle/>
          <a:p>
            <a:r>
              <a:rPr lang="en-US" dirty="0" smtClean="0"/>
              <a:t>FOR EACH YEAR FIND THE HIGHEST ANNUAL CLOSING PRICE</a:t>
            </a:r>
          </a:p>
          <a:p>
            <a:pPr lvl="3">
              <a:buNone/>
            </a:pPr>
            <a:r>
              <a:rPr lang="en-US" dirty="0" smtClean="0"/>
              <a:t>    </a:t>
            </a:r>
            <a:r>
              <a:rPr lang="en-US" sz="1600" dirty="0" smtClean="0"/>
              <a:t>With </a:t>
            </a:r>
            <a:r>
              <a:rPr lang="en-US" sz="1600" dirty="0" err="1" smtClean="0"/>
              <a:t>high_close</a:t>
            </a:r>
            <a:r>
              <a:rPr lang="en-US" sz="1600" dirty="0" smtClean="0"/>
              <a:t> as(</a:t>
            </a:r>
          </a:p>
          <a:p>
            <a:pPr lvl="3">
              <a:buNone/>
            </a:pPr>
            <a:r>
              <a:rPr lang="en-US" sz="1600" dirty="0" smtClean="0"/>
              <a:t>	Select ticker, year( Date) as </a:t>
            </a:r>
            <a:r>
              <a:rPr lang="en-US" sz="1600" dirty="0" err="1" smtClean="0"/>
              <a:t>year_close</a:t>
            </a:r>
            <a:r>
              <a:rPr lang="en-US" sz="1600" dirty="0" smtClean="0"/>
              <a:t>,</a:t>
            </a:r>
          </a:p>
          <a:p>
            <a:pPr lvl="3">
              <a:buNone/>
            </a:pPr>
            <a:r>
              <a:rPr lang="en-US" sz="1600" dirty="0" smtClean="0"/>
              <a:t>	</a:t>
            </a:r>
            <a:r>
              <a:rPr lang="en-US" sz="1600" dirty="0" err="1" smtClean="0"/>
              <a:t>avg</a:t>
            </a:r>
            <a:r>
              <a:rPr lang="en-US" sz="1600" dirty="0" smtClean="0"/>
              <a:t>(close) as </a:t>
            </a:r>
            <a:r>
              <a:rPr lang="en-US" sz="1600" dirty="0" err="1" smtClean="0"/>
              <a:t>high_annual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	From </a:t>
            </a:r>
            <a:r>
              <a:rPr lang="en-US" sz="1600" dirty="0" err="1" smtClean="0"/>
              <a:t>stock_data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	Group by  </a:t>
            </a:r>
            <a:r>
              <a:rPr lang="en-US" sz="1600" dirty="0" err="1" smtClean="0"/>
              <a:t>year_close</a:t>
            </a:r>
            <a:r>
              <a:rPr lang="en-US" sz="1600" dirty="0" smtClean="0"/>
              <a:t>, ticker),</a:t>
            </a:r>
          </a:p>
          <a:p>
            <a:pPr lvl="3">
              <a:buNone/>
            </a:pPr>
            <a:r>
              <a:rPr lang="en-US" sz="1600" dirty="0" smtClean="0"/>
              <a:t>	ranked as(</a:t>
            </a:r>
          </a:p>
          <a:p>
            <a:pPr lvl="3">
              <a:buNone/>
            </a:pPr>
            <a:r>
              <a:rPr lang="en-US" sz="1600" dirty="0" smtClean="0"/>
              <a:t>	select *, rank() over (partition by </a:t>
            </a:r>
            <a:r>
              <a:rPr lang="en-US" sz="1600" dirty="0" err="1" smtClean="0"/>
              <a:t>year_close</a:t>
            </a:r>
            <a:r>
              <a:rPr lang="en-US" sz="1600" dirty="0" smtClean="0"/>
              <a:t> order by </a:t>
            </a:r>
            <a:r>
              <a:rPr lang="en-US" sz="1600" dirty="0" err="1" smtClean="0"/>
              <a:t>high_annual</a:t>
            </a:r>
            <a:r>
              <a:rPr lang="en-US" sz="1600" dirty="0" smtClean="0"/>
              <a:t> </a:t>
            </a:r>
            <a:r>
              <a:rPr lang="en-US" sz="1600" dirty="0" err="1" smtClean="0"/>
              <a:t>desc</a:t>
            </a:r>
            <a:r>
              <a:rPr lang="en-US" sz="1600" dirty="0" smtClean="0"/>
              <a:t>) as </a:t>
            </a:r>
            <a:r>
              <a:rPr lang="en-US" sz="1600" dirty="0" err="1" smtClean="0"/>
              <a:t>rnk</a:t>
            </a: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	from </a:t>
            </a:r>
            <a:r>
              <a:rPr lang="en-US" sz="1600" dirty="0" err="1" smtClean="0"/>
              <a:t>high_close</a:t>
            </a:r>
            <a:r>
              <a:rPr lang="en-US" sz="1600" dirty="0" smtClean="0"/>
              <a:t>)</a:t>
            </a:r>
          </a:p>
          <a:p>
            <a:pPr lvl="3">
              <a:buNone/>
            </a:pPr>
            <a:endParaRPr lang="en-US" sz="1600" dirty="0" smtClean="0"/>
          </a:p>
          <a:p>
            <a:pPr lvl="3">
              <a:buNone/>
            </a:pPr>
            <a:r>
              <a:rPr lang="en-US" sz="1600" dirty="0" smtClean="0"/>
              <a:t>	select * from ranked where </a:t>
            </a:r>
            <a:r>
              <a:rPr lang="en-US" sz="1600" dirty="0" err="1" smtClean="0"/>
              <a:t>rnk</a:t>
            </a:r>
            <a:r>
              <a:rPr lang="en-US" sz="1600" dirty="0" smtClean="0"/>
              <a:t>=1;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(31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2000240"/>
            <a:ext cx="8229600" cy="33137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571480"/>
            <a:ext cx="8186766" cy="5554683"/>
          </a:xfrm>
        </p:spPr>
        <p:txBody>
          <a:bodyPr>
            <a:normAutofit/>
          </a:bodyPr>
          <a:lstStyle/>
          <a:p>
            <a:r>
              <a:rPr lang="en-US" dirty="0" smtClean="0"/>
              <a:t>LARGEST ONE DAY PERCENT GAIN IN EACH </a:t>
            </a:r>
            <a:r>
              <a:rPr lang="en-US" dirty="0" smtClean="0"/>
              <a:t>YEAR</a:t>
            </a:r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                   with </a:t>
            </a:r>
            <a:r>
              <a:rPr lang="en-US" sz="1700" dirty="0" err="1" smtClean="0"/>
              <a:t>oneday_gain</a:t>
            </a:r>
            <a:r>
              <a:rPr lang="en-US" sz="1700" dirty="0" smtClean="0"/>
              <a:t> </a:t>
            </a:r>
            <a:r>
              <a:rPr lang="en-US" sz="1700" dirty="0" smtClean="0"/>
              <a:t>as(</a:t>
            </a:r>
          </a:p>
          <a:p>
            <a:pPr>
              <a:buNone/>
            </a:pPr>
            <a:r>
              <a:rPr lang="en-US" sz="1700" dirty="0" smtClean="0"/>
              <a:t>	</a:t>
            </a:r>
            <a:r>
              <a:rPr lang="en-US" sz="1700" dirty="0" smtClean="0"/>
              <a:t>	select </a:t>
            </a:r>
            <a:r>
              <a:rPr lang="en-US" sz="1700" dirty="0" err="1" smtClean="0"/>
              <a:t>ticker,round</a:t>
            </a:r>
            <a:r>
              <a:rPr lang="en-US" sz="1700" dirty="0" smtClean="0"/>
              <a:t>( 100*close - lag(close) </a:t>
            </a:r>
            <a:r>
              <a:rPr lang="en-US" sz="1700" dirty="0" smtClean="0"/>
              <a:t>over(partition </a:t>
            </a:r>
            <a:r>
              <a:rPr lang="en-US" sz="1700" dirty="0" smtClean="0"/>
              <a:t>by ticker order by date) </a:t>
            </a:r>
            <a:r>
              <a:rPr lang="en-US" sz="1700" dirty="0" smtClean="0"/>
              <a:t>	/</a:t>
            </a:r>
          </a:p>
          <a:p>
            <a:pPr>
              <a:buNone/>
            </a:pPr>
            <a:r>
              <a:rPr lang="en-US" sz="1700" dirty="0" smtClean="0"/>
              <a:t>		 </a:t>
            </a:r>
            <a:r>
              <a:rPr lang="en-US" sz="1700" dirty="0" smtClean="0"/>
              <a:t>lag(close) over(partition by ticker order by date) ,3)as </a:t>
            </a:r>
            <a:r>
              <a:rPr lang="en-US" sz="1700" dirty="0" err="1" smtClean="0"/>
              <a:t>prev</a:t>
            </a:r>
            <a:r>
              <a:rPr lang="en-US" sz="1700" dirty="0" smtClean="0"/>
              <a:t> </a:t>
            </a: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	</a:t>
            </a:r>
            <a:r>
              <a:rPr lang="en-US" sz="1700" dirty="0" smtClean="0"/>
              <a:t>	from </a:t>
            </a:r>
            <a:r>
              <a:rPr lang="en-US" sz="1700" dirty="0" err="1" smtClean="0"/>
              <a:t>stock_data</a:t>
            </a:r>
            <a:r>
              <a:rPr lang="en-US" sz="1700" dirty="0" smtClean="0"/>
              <a:t>),</a:t>
            </a:r>
          </a:p>
          <a:p>
            <a:pPr>
              <a:buNone/>
            </a:pPr>
            <a:r>
              <a:rPr lang="en-US" sz="1700" dirty="0" smtClean="0"/>
              <a:t>	</a:t>
            </a:r>
            <a:r>
              <a:rPr lang="en-US" sz="1700" dirty="0" smtClean="0"/>
              <a:t>	ranked </a:t>
            </a:r>
            <a:r>
              <a:rPr lang="en-US" sz="1700" dirty="0" smtClean="0"/>
              <a:t>as</a:t>
            </a:r>
            <a:r>
              <a:rPr lang="en-US" sz="1700" dirty="0" smtClean="0"/>
              <a:t>(</a:t>
            </a:r>
          </a:p>
          <a:p>
            <a:pPr>
              <a:buNone/>
            </a:pPr>
            <a:r>
              <a:rPr lang="en-US" sz="1700" dirty="0" smtClean="0"/>
              <a:t>	</a:t>
            </a:r>
            <a:r>
              <a:rPr lang="en-US" sz="1700" dirty="0" smtClean="0"/>
              <a:t>	select</a:t>
            </a:r>
            <a:r>
              <a:rPr lang="en-US" sz="1700" dirty="0" smtClean="0"/>
              <a:t>*,rank() over (order by </a:t>
            </a:r>
            <a:r>
              <a:rPr lang="en-US" sz="1700" dirty="0" err="1" smtClean="0"/>
              <a:t>prev</a:t>
            </a:r>
            <a:r>
              <a:rPr lang="en-US" sz="1700" dirty="0" smtClean="0"/>
              <a:t> </a:t>
            </a:r>
            <a:r>
              <a:rPr lang="en-US" sz="1700" dirty="0" err="1" smtClean="0"/>
              <a:t>desc</a:t>
            </a:r>
            <a:r>
              <a:rPr lang="en-US" sz="1700" dirty="0" smtClean="0"/>
              <a:t>) as </a:t>
            </a:r>
            <a:r>
              <a:rPr lang="en-US" sz="1700" dirty="0" err="1" smtClean="0"/>
              <a:t>rnk</a:t>
            </a: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	</a:t>
            </a:r>
            <a:r>
              <a:rPr lang="en-US" sz="1700" dirty="0" smtClean="0"/>
              <a:t>	from </a:t>
            </a:r>
            <a:r>
              <a:rPr lang="en-US" sz="1700" dirty="0" err="1" smtClean="0"/>
              <a:t>oneday_gain</a:t>
            </a:r>
            <a:r>
              <a:rPr lang="en-US" sz="1700" dirty="0" smtClean="0"/>
              <a:t>)</a:t>
            </a:r>
          </a:p>
          <a:p>
            <a:pPr>
              <a:buNone/>
            </a:pPr>
            <a:r>
              <a:rPr lang="en-US" sz="1700" smtClean="0"/>
              <a:t>	</a:t>
            </a:r>
            <a:r>
              <a:rPr lang="en-US" sz="1700" smtClean="0"/>
              <a:t>	select </a:t>
            </a:r>
            <a:r>
              <a:rPr lang="en-US" sz="1700" dirty="0" smtClean="0"/>
              <a:t>* from ranked where </a:t>
            </a:r>
            <a:r>
              <a:rPr lang="en-US" sz="1700" dirty="0" err="1" smtClean="0"/>
              <a:t>rnk</a:t>
            </a:r>
            <a:r>
              <a:rPr lang="en-US" sz="1700" dirty="0" smtClean="0"/>
              <a:t> =1;</a:t>
            </a: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                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 lvl="3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245</Words>
  <Application>Microsoft Office PowerPoint</Application>
  <PresentationFormat>On-screen Show (4:3)</PresentationFormat>
  <Paragraphs>100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QUERIES OF STOCK MARKET DATABASE</vt:lpstr>
      <vt:lpstr>BASIC QUERIES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QUERIES OF STOCK MARKET DATABASE</dc:title>
  <dc:creator>HP</dc:creator>
  <cp:lastModifiedBy>HP</cp:lastModifiedBy>
  <cp:revision>62</cp:revision>
  <dcterms:created xsi:type="dcterms:W3CDTF">2026-06-29T09:30:02Z</dcterms:created>
  <dcterms:modified xsi:type="dcterms:W3CDTF">2026-07-06T17:03:57Z</dcterms:modified>
</cp:coreProperties>
</file>